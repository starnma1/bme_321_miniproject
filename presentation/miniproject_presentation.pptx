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1" r:id="rId10"/>
    <p:sldId id="262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1A0D32-7048-4EBC-999B-B8680BBC1F6E}" v="3" dt="2026-04-29T14:25:02.1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35"/>
  </p:normalViewPr>
  <p:slideViewPr>
    <p:cSldViewPr snapToGrid="0">
      <p:cViewPr varScale="1">
        <p:scale>
          <a:sx n="110" d="100"/>
          <a:sy n="110" d="100"/>
        </p:scale>
        <p:origin x="5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payer27@gmail.com" userId="7e90483bd88d641e" providerId="LiveId" clId="{33B4280C-14B8-46FE-96E8-14997B42EB38}"/>
    <pc:docChg chg="undo custSel addSld modSld">
      <pc:chgData name="tpayer27@gmail.com" userId="7e90483bd88d641e" providerId="LiveId" clId="{33B4280C-14B8-46FE-96E8-14997B42EB38}" dt="2026-04-30T07:40:31.175" v="1114" actId="20577"/>
      <pc:docMkLst>
        <pc:docMk/>
      </pc:docMkLst>
      <pc:sldChg chg="modSp mod">
        <pc:chgData name="tpayer27@gmail.com" userId="7e90483bd88d641e" providerId="LiveId" clId="{33B4280C-14B8-46FE-96E8-14997B42EB38}" dt="2026-04-29T14:50:10.320" v="1077" actId="20577"/>
        <pc:sldMkLst>
          <pc:docMk/>
          <pc:sldMk cId="568311737" sldId="257"/>
        </pc:sldMkLst>
        <pc:spChg chg="mod">
          <ac:chgData name="tpayer27@gmail.com" userId="7e90483bd88d641e" providerId="LiveId" clId="{33B4280C-14B8-46FE-96E8-14997B42EB38}" dt="2026-04-29T14:11:02.161" v="10" actId="20577"/>
          <ac:spMkLst>
            <pc:docMk/>
            <pc:sldMk cId="568311737" sldId="257"/>
            <ac:spMk id="2" creationId="{3FE5773C-1F66-11D1-5497-5C7C5A6C79CE}"/>
          </ac:spMkLst>
        </pc:spChg>
        <pc:spChg chg="mod">
          <ac:chgData name="tpayer27@gmail.com" userId="7e90483bd88d641e" providerId="LiveId" clId="{33B4280C-14B8-46FE-96E8-14997B42EB38}" dt="2026-04-29T14:50:10.320" v="1077" actId="20577"/>
          <ac:spMkLst>
            <pc:docMk/>
            <pc:sldMk cId="568311737" sldId="257"/>
            <ac:spMk id="3" creationId="{B2EC310B-29A8-B70B-69DE-B8313BD22904}"/>
          </ac:spMkLst>
        </pc:spChg>
      </pc:sldChg>
      <pc:sldChg chg="modSp new mod">
        <pc:chgData name="tpayer27@gmail.com" userId="7e90483bd88d641e" providerId="LiveId" clId="{33B4280C-14B8-46FE-96E8-14997B42EB38}" dt="2026-04-29T14:24:17.202" v="756" actId="5793"/>
        <pc:sldMkLst>
          <pc:docMk/>
          <pc:sldMk cId="401316806" sldId="258"/>
        </pc:sldMkLst>
        <pc:spChg chg="mod">
          <ac:chgData name="tpayer27@gmail.com" userId="7e90483bd88d641e" providerId="LiveId" clId="{33B4280C-14B8-46FE-96E8-14997B42EB38}" dt="2026-04-29T14:18:34.595" v="551" actId="20577"/>
          <ac:spMkLst>
            <pc:docMk/>
            <pc:sldMk cId="401316806" sldId="258"/>
            <ac:spMk id="2" creationId="{A8ED7CDF-D330-A82F-973B-4B6B36C09665}"/>
          </ac:spMkLst>
        </pc:spChg>
        <pc:spChg chg="mod">
          <ac:chgData name="tpayer27@gmail.com" userId="7e90483bd88d641e" providerId="LiveId" clId="{33B4280C-14B8-46FE-96E8-14997B42EB38}" dt="2026-04-29T14:24:17.202" v="756" actId="5793"/>
          <ac:spMkLst>
            <pc:docMk/>
            <pc:sldMk cId="401316806" sldId="258"/>
            <ac:spMk id="3" creationId="{5CF9183D-445C-25C4-6291-EDF4CDACBE96}"/>
          </ac:spMkLst>
        </pc:spChg>
      </pc:sldChg>
      <pc:sldChg chg="modSp new mod">
        <pc:chgData name="tpayer27@gmail.com" userId="7e90483bd88d641e" providerId="LiveId" clId="{33B4280C-14B8-46FE-96E8-14997B42EB38}" dt="2026-04-29T14:19:16.347" v="621" actId="5793"/>
        <pc:sldMkLst>
          <pc:docMk/>
          <pc:sldMk cId="1546665739" sldId="259"/>
        </pc:sldMkLst>
        <pc:spChg chg="mod">
          <ac:chgData name="tpayer27@gmail.com" userId="7e90483bd88d641e" providerId="LiveId" clId="{33B4280C-14B8-46FE-96E8-14997B42EB38}" dt="2026-04-29T14:18:56" v="602" actId="20577"/>
          <ac:spMkLst>
            <pc:docMk/>
            <pc:sldMk cId="1546665739" sldId="259"/>
            <ac:spMk id="2" creationId="{9B2EDE5B-FF14-7646-7A1F-49B8E3A50699}"/>
          </ac:spMkLst>
        </pc:spChg>
        <pc:spChg chg="mod">
          <ac:chgData name="tpayer27@gmail.com" userId="7e90483bd88d641e" providerId="LiveId" clId="{33B4280C-14B8-46FE-96E8-14997B42EB38}" dt="2026-04-29T14:19:16.347" v="621" actId="5793"/>
          <ac:spMkLst>
            <pc:docMk/>
            <pc:sldMk cId="1546665739" sldId="259"/>
            <ac:spMk id="3" creationId="{E02D3514-E1F8-A44C-72EC-82AA96464F45}"/>
          </ac:spMkLst>
        </pc:spChg>
      </pc:sldChg>
      <pc:sldChg chg="addSp delSp modSp new mod">
        <pc:chgData name="tpayer27@gmail.com" userId="7e90483bd88d641e" providerId="LiveId" clId="{33B4280C-14B8-46FE-96E8-14997B42EB38}" dt="2026-04-29T14:29:00.590" v="933" actId="20577"/>
        <pc:sldMkLst>
          <pc:docMk/>
          <pc:sldMk cId="2573603863" sldId="260"/>
        </pc:sldMkLst>
        <pc:spChg chg="mod">
          <ac:chgData name="tpayer27@gmail.com" userId="7e90483bd88d641e" providerId="LiveId" clId="{33B4280C-14B8-46FE-96E8-14997B42EB38}" dt="2026-04-29T14:19:47.309" v="698" actId="20577"/>
          <ac:spMkLst>
            <pc:docMk/>
            <pc:sldMk cId="2573603863" sldId="260"/>
            <ac:spMk id="2" creationId="{59807686-857B-4667-FD35-484CD1486A6C}"/>
          </ac:spMkLst>
        </pc:spChg>
        <pc:spChg chg="del">
          <ac:chgData name="tpayer27@gmail.com" userId="7e90483bd88d641e" providerId="LiveId" clId="{33B4280C-14B8-46FE-96E8-14997B42EB38}" dt="2026-04-29T14:20:15.035" v="699" actId="22"/>
          <ac:spMkLst>
            <pc:docMk/>
            <pc:sldMk cId="2573603863" sldId="260"/>
            <ac:spMk id="3" creationId="{4ED97D5A-69CA-43A5-F539-61D03C119579}"/>
          </ac:spMkLst>
        </pc:spChg>
        <pc:spChg chg="add mod">
          <ac:chgData name="tpayer27@gmail.com" userId="7e90483bd88d641e" providerId="LiveId" clId="{33B4280C-14B8-46FE-96E8-14997B42EB38}" dt="2026-04-29T14:29:00.590" v="933" actId="20577"/>
          <ac:spMkLst>
            <pc:docMk/>
            <pc:sldMk cId="2573603863" sldId="260"/>
            <ac:spMk id="11" creationId="{3C368489-ACDA-5050-D840-05E08B9EC190}"/>
          </ac:spMkLst>
        </pc:spChg>
        <pc:picChg chg="add mod ord">
          <ac:chgData name="tpayer27@gmail.com" userId="7e90483bd88d641e" providerId="LiveId" clId="{33B4280C-14B8-46FE-96E8-14997B42EB38}" dt="2026-04-29T14:20:18.640" v="700" actId="1076"/>
          <ac:picMkLst>
            <pc:docMk/>
            <pc:sldMk cId="2573603863" sldId="260"/>
            <ac:picMk id="5" creationId="{26648917-2D3F-6DC0-C0A5-CEA1CCDF4979}"/>
          </ac:picMkLst>
        </pc:picChg>
        <pc:picChg chg="add mod">
          <ac:chgData name="tpayer27@gmail.com" userId="7e90483bd88d641e" providerId="LiveId" clId="{33B4280C-14B8-46FE-96E8-14997B42EB38}" dt="2026-04-29T14:23:53.475" v="712" actId="1076"/>
          <ac:picMkLst>
            <pc:docMk/>
            <pc:sldMk cId="2573603863" sldId="260"/>
            <ac:picMk id="7" creationId="{6DA10D87-A3BC-3D82-7B6D-168F7106B663}"/>
          </ac:picMkLst>
        </pc:picChg>
        <pc:cxnChg chg="add mod">
          <ac:chgData name="tpayer27@gmail.com" userId="7e90483bd88d641e" providerId="LiveId" clId="{33B4280C-14B8-46FE-96E8-14997B42EB38}" dt="2026-04-29T14:27:18.856" v="901" actId="14100"/>
          <ac:cxnSpMkLst>
            <pc:docMk/>
            <pc:sldMk cId="2573603863" sldId="260"/>
            <ac:cxnSpMk id="9" creationId="{294DB138-1EC6-538F-8DD8-02BB258F8941}"/>
          </ac:cxnSpMkLst>
        </pc:cxnChg>
      </pc:sldChg>
      <pc:sldChg chg="modSp new mod">
        <pc:chgData name="tpayer27@gmail.com" userId="7e90483bd88d641e" providerId="LiveId" clId="{33B4280C-14B8-46FE-96E8-14997B42EB38}" dt="2026-04-30T07:40:31.175" v="1114" actId="20577"/>
        <pc:sldMkLst>
          <pc:docMk/>
          <pc:sldMk cId="3738012847" sldId="261"/>
        </pc:sldMkLst>
        <pc:spChg chg="mod">
          <ac:chgData name="tpayer27@gmail.com" userId="7e90483bd88d641e" providerId="LiveId" clId="{33B4280C-14B8-46FE-96E8-14997B42EB38}" dt="2026-04-29T14:47:53.710" v="954" actId="20577"/>
          <ac:spMkLst>
            <pc:docMk/>
            <pc:sldMk cId="3738012847" sldId="261"/>
            <ac:spMk id="2" creationId="{FFE019AF-14F3-8BBB-6D3F-BC3ADFB90729}"/>
          </ac:spMkLst>
        </pc:spChg>
        <pc:spChg chg="mod">
          <ac:chgData name="tpayer27@gmail.com" userId="7e90483bd88d641e" providerId="LiveId" clId="{33B4280C-14B8-46FE-96E8-14997B42EB38}" dt="2026-04-30T07:40:31.175" v="1114" actId="20577"/>
          <ac:spMkLst>
            <pc:docMk/>
            <pc:sldMk cId="3738012847" sldId="261"/>
            <ac:spMk id="3" creationId="{82D9D260-2761-E4EE-F884-D4F7769E696F}"/>
          </ac:spMkLst>
        </pc:spChg>
      </pc:sldChg>
      <pc:sldChg chg="modSp new mod">
        <pc:chgData name="tpayer27@gmail.com" userId="7e90483bd88d641e" providerId="LiveId" clId="{33B4280C-14B8-46FE-96E8-14997B42EB38}" dt="2026-04-29T14:51:53.229" v="1108" actId="20577"/>
        <pc:sldMkLst>
          <pc:docMk/>
          <pc:sldMk cId="3978538866" sldId="262"/>
        </pc:sldMkLst>
        <pc:spChg chg="mod">
          <ac:chgData name="tpayer27@gmail.com" userId="7e90483bd88d641e" providerId="LiveId" clId="{33B4280C-14B8-46FE-96E8-14997B42EB38}" dt="2026-04-29T14:51:53.229" v="1108" actId="20577"/>
          <ac:spMkLst>
            <pc:docMk/>
            <pc:sldMk cId="3978538866" sldId="262"/>
            <ac:spMk id="2" creationId="{3907596B-4792-8F17-1652-319FEB91C8EF}"/>
          </ac:spMkLst>
        </pc:spChg>
      </pc:sldChg>
      <pc:sldChg chg="new">
        <pc:chgData name="tpayer27@gmail.com" userId="7e90483bd88d641e" providerId="LiveId" clId="{33B4280C-14B8-46FE-96E8-14997B42EB38}" dt="2026-04-30T07:40:24.729" v="1109" actId="680"/>
        <pc:sldMkLst>
          <pc:docMk/>
          <pc:sldMk cId="2115586794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A62E7-6BC0-373B-7534-7D5A8C1DF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D65E-BB0C-0092-1E31-5A7D698DD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E5D9B-CF2A-4650-E4F8-974341B9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BD42E-0C61-8352-834C-D91FFB4E0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883BB-BCE6-5DF0-B678-25F55422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2679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F4DD-B9C6-AC55-7F17-F0F1A916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365D4-767B-2A34-D947-482730599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BEB5B-8A59-89B8-E2D2-5517383C6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100B6-FA91-9C8D-DBA9-277781114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6F67F-269E-0D7F-B91D-52A11A4E6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3826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27E3-20D5-5993-F26F-46FBFF797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32070-AB16-D40B-5C06-FCD5613BD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230EC-BFD3-0226-CB9C-DAD120E59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3491D-B51E-A140-AE10-448612E7C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9D24C-E55C-2225-70D2-1F23FC7C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151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92364-0893-F8D5-D8E7-D262A8BDC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DDDC-1558-2F2B-A10A-E5BE47F66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C9B08-0B17-0686-CC90-D2C67FAD9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1EAC86-4030-26C9-DE73-0BC61837E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606E9-5E97-9143-8E9F-E5F082B27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4DFBE-43E2-293A-1D52-7D8855F0C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0246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CF88-CAA8-E36F-1F6F-73C7ACE04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C1677-A0EE-FD29-ADBF-519EED257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CE930-398C-874C-B5D6-716C4DC47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8A8E6-27F7-78AD-C519-E1AD6D8F55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806E20-41E6-D9AD-A8F5-5652C3E6F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823891-93AC-24E9-5310-58FB8AD4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BD0E3-FB6D-BAD3-73E7-1567744FE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73334-9990-A2D1-857E-2DA98E69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87652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EBED8-E36F-7D1A-42EB-037E76691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B1AD2-CFC3-B538-20A3-50D95FAA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77D77-E6DF-96F8-2C7D-54CEDAD4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937D1-7B2F-AA89-D88D-78F35085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0760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224DF-746D-CAA8-F3F6-21B44DA8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B3A446-6752-5440-02B9-F96CFA33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6F51-36F5-F263-9023-15D50C4A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89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2AD7-6165-1729-53B2-7593E57D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E7B8-63F7-E22D-C618-607265244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CAC35-A04B-BDF3-FFC3-3CEC690CA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C6737-375A-0C7D-1B7F-DB5E89CF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574CC6-9389-5437-39CA-1489E967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CB848-4EEA-1FBF-4F1E-1FF5F062F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54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73816-3071-265E-4A53-739FC8B5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82423-DA9D-504D-3FB8-922325B517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1A941-169D-3C1C-3A5B-652F73BF2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1ADDB-7E4B-A602-0E6B-4FD40A1ED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49048-BA64-8DDA-5378-3760D729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4161F-59B8-C4AA-6CFA-9721A8C3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0789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AD4-AE12-45F1-B1F3-94B2000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83A48-E820-83D4-7D37-99278E299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514B1-F9A0-BEE9-DE17-174518C59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0DC7B-8EA0-CDBA-E675-B4A42F792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0DFF0-8E21-BDE9-C1BB-DA1719D6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48146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483B7-8899-F096-CCF2-10F5038B2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D0FA7-0474-236A-DC03-F1F52109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450C5-53FE-B068-8A2A-84AA052D7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C88A7-667C-649F-FFAE-56A58498F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2677D-238F-CB8A-B059-794F34CE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9305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C32A28-B807-80C9-DB8C-39C4AC40E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5851F-3419-500B-DF78-0C27F983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6E7ED-12B3-BE2A-1CCA-EEEF865E8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77C79-E0EF-4BB8-995A-4050F662F273}" type="datetimeFigureOut">
              <a:rPr lang="en-CH" smtClean="0"/>
              <a:t>30.04.2026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72E27-C0FA-6C14-EEDE-43A0B932B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F6934-B193-3DD6-D7C9-B54FB0305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5043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3A7F5-1844-D09D-3771-404962B88B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Colour</a:t>
            </a:r>
            <a:r>
              <a:rPr lang="en-US" sz="3600" dirty="0"/>
              <a:t> change and </a:t>
            </a:r>
            <a:r>
              <a:rPr lang="en-US" sz="3600" dirty="0" err="1"/>
              <a:t>behavioural</a:t>
            </a:r>
            <a:r>
              <a:rPr lang="en-US" sz="3600" dirty="0"/>
              <a:t> choice facilitate</a:t>
            </a:r>
            <a:br>
              <a:rPr lang="en-US" sz="3600" dirty="0"/>
            </a:br>
            <a:r>
              <a:rPr lang="en-US" sz="3600" dirty="0"/>
              <a:t>chameleon prawn camouflage against different</a:t>
            </a:r>
            <a:br>
              <a:rPr lang="en-US" sz="3600" dirty="0"/>
            </a:br>
            <a:r>
              <a:rPr lang="en-US" sz="3600" dirty="0"/>
              <a:t>seaweed backgrounds</a:t>
            </a:r>
            <a:endParaRPr lang="en-CH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75253-4FCE-15A9-1F08-E520F19D7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A </a:t>
            </a:r>
            <a:r>
              <a:rPr lang="de-CH" dirty="0" err="1"/>
              <a:t>reproducibility</a:t>
            </a:r>
            <a:r>
              <a:rPr lang="de-CH" dirty="0"/>
              <a:t> and GRP </a:t>
            </a:r>
            <a:r>
              <a:rPr lang="de-CH" dirty="0" err="1"/>
              <a:t>analysis</a:t>
            </a:r>
            <a:endParaRPr lang="de-CH" dirty="0"/>
          </a:p>
          <a:p>
            <a:r>
              <a:rPr lang="de-CH" dirty="0"/>
              <a:t>Clint, Mati, Timo</a:t>
            </a:r>
          </a:p>
          <a:p>
            <a:r>
              <a:rPr lang="de-CH" dirty="0"/>
              <a:t>BME 321</a:t>
            </a:r>
          </a:p>
        </p:txBody>
      </p:sp>
    </p:spTree>
    <p:extLst>
      <p:ext uri="{BB962C8B-B14F-4D97-AF65-F5344CB8AC3E}">
        <p14:creationId xmlns:p14="http://schemas.microsoft.com/office/powerpoint/2010/main" val="407159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773C-1F66-11D1-5497-5C7C5A6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Outline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310B-29A8-B70B-69DE-B8313BD22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Study &amp; Design</a:t>
            </a:r>
          </a:p>
          <a:p>
            <a:r>
              <a:rPr lang="en-US" dirty="0"/>
              <a:t>Transparency and Reproducibility</a:t>
            </a:r>
          </a:p>
          <a:p>
            <a:r>
              <a:rPr lang="en-US" dirty="0"/>
              <a:t>Soundness of Analyses</a:t>
            </a:r>
          </a:p>
          <a:p>
            <a:r>
              <a:rPr lang="en-US" dirty="0"/>
              <a:t>Fulfillment of GRP principles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311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D7CDF-D330-A82F-973B-4B6B36C09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Introduction</a:t>
            </a:r>
            <a:r>
              <a:rPr lang="de-CH" dirty="0"/>
              <a:t> </a:t>
            </a:r>
            <a:r>
              <a:rPr lang="de-CH" dirty="0" err="1"/>
              <a:t>into</a:t>
            </a:r>
            <a:r>
              <a:rPr lang="de-CH" dirty="0"/>
              <a:t> </a:t>
            </a:r>
            <a:r>
              <a:rPr lang="de-CH" dirty="0" err="1"/>
              <a:t>study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9183D-445C-25C4-6291-EDF4CDACB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Summary, etc…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1316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DE5B-FF14-7646-7A1F-49B8E3A50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Causal</a:t>
            </a:r>
            <a:r>
              <a:rPr lang="de-CH" dirty="0"/>
              <a:t> </a:t>
            </a:r>
            <a:r>
              <a:rPr lang="de-CH" dirty="0" err="1"/>
              <a:t>Reasoning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514-E1F8-A44C-72EC-82AA96464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DAGs, etc…</a:t>
            </a:r>
          </a:p>
          <a:p>
            <a:pPr marL="0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46665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07686-857B-4667-FD35-484CD148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Transparency and </a:t>
            </a:r>
            <a:r>
              <a:rPr lang="de-CH" dirty="0" err="1"/>
              <a:t>Reproducibility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648917-2D3F-6DC0-C0A5-CEA1CCDF49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33229"/>
            <a:ext cx="6788353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A10D87-A3BC-3D82-7B6D-168F7106B6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225" y="1065637"/>
            <a:ext cx="2381040" cy="5286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4DB138-1EC6-538F-8DD8-02BB258F8941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788353" y="3708898"/>
            <a:ext cx="19008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368489-ACDA-5050-D840-05E08B9EC190}"/>
              </a:ext>
            </a:extLst>
          </p:cNvPr>
          <p:cNvSpPr txBox="1"/>
          <p:nvPr/>
        </p:nvSpPr>
        <p:spPr>
          <a:xfrm>
            <a:off x="0" y="5993459"/>
            <a:ext cx="8689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Note: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above</a:t>
            </a:r>
            <a:r>
              <a:rPr lang="de-CH" dirty="0"/>
              <a:t> </a:t>
            </a:r>
            <a:r>
              <a:rPr lang="de-CH" dirty="0" err="1"/>
              <a:t>illustration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just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show</a:t>
            </a:r>
            <a:r>
              <a:rPr lang="de-CH" dirty="0"/>
              <a:t> </a:t>
            </a:r>
            <a:r>
              <a:rPr lang="de-CH" dirty="0" err="1"/>
              <a:t>what</a:t>
            </a:r>
            <a:r>
              <a:rPr lang="de-CH" dirty="0"/>
              <a:t> I </a:t>
            </a:r>
            <a:r>
              <a:rPr lang="de-CH" dirty="0" err="1"/>
              <a:t>want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include</a:t>
            </a:r>
            <a:r>
              <a:rPr lang="de-CH" dirty="0"/>
              <a:t> in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slide</a:t>
            </a:r>
            <a:r>
              <a:rPr lang="de-CH" dirty="0"/>
              <a:t>, </a:t>
            </a:r>
            <a:r>
              <a:rPr lang="de-CH" dirty="0" err="1"/>
              <a:t>screenshots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taken</a:t>
            </a:r>
            <a:r>
              <a:rPr lang="de-CH" dirty="0"/>
              <a:t> </a:t>
            </a:r>
            <a:r>
              <a:rPr lang="de-CH" dirty="0" err="1"/>
              <a:t>again</a:t>
            </a:r>
            <a:r>
              <a:rPr lang="de-CH" dirty="0"/>
              <a:t> 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73603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5AC44-6C77-9ED4-9917-CC408BAAF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8793F-EC8A-9F93-213A-4C50CD70D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15586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01204E-2620-B6AA-224D-3B07D4F82E8B}"/>
              </a:ext>
            </a:extLst>
          </p:cNvPr>
          <p:cNvSpPr txBox="1"/>
          <p:nvPr/>
        </p:nvSpPr>
        <p:spPr>
          <a:xfrm>
            <a:off x="838200" y="3059668"/>
            <a:ext cx="43375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u="sng" dirty="0"/>
              <a:t>Reproducibility!</a:t>
            </a:r>
            <a:endParaRPr lang="en-GB" u="sng" dirty="0"/>
          </a:p>
          <a:p>
            <a:endParaRPr lang="en-GB" b="1" dirty="0"/>
          </a:p>
          <a:p>
            <a:r>
              <a:rPr lang="en-GB" dirty="0"/>
              <a:t>There was no numerical or graphical exploration before model fitting…so we did it ourselves.</a:t>
            </a:r>
          </a:p>
          <a:p>
            <a:endParaRPr lang="en-GB" dirty="0"/>
          </a:p>
          <a:p>
            <a:r>
              <a:rPr lang="en-GB" dirty="0"/>
              <a:t>Numerical Exploration </a:t>
            </a:r>
            <a:r>
              <a:rPr lang="en-GB" b="1" dirty="0"/>
              <a:t>suggested Non-normality </a:t>
            </a:r>
            <a:r>
              <a:rPr lang="en-GB" dirty="0"/>
              <a:t>of the response variable (Shapiro-wilk test).</a:t>
            </a:r>
            <a:endParaRPr lang="en-GB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8D9A13-85D8-0563-FBE0-DC1DA8E74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738" y="2901583"/>
            <a:ext cx="3270353" cy="30302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D48FB5-F88D-6F47-9E3A-3A9A57654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468" y="3021853"/>
            <a:ext cx="3270353" cy="3030286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F52E4CDB-23DA-16A8-2E04-05E17B805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08" y="142387"/>
            <a:ext cx="11980984" cy="2108444"/>
          </a:xfrm>
        </p:spPr>
        <p:txBody>
          <a:bodyPr>
            <a:normAutofit/>
          </a:bodyPr>
          <a:lstStyle/>
          <a:p>
            <a:pPr algn="ctr"/>
            <a:r>
              <a:rPr kumimoji="0" lang="en-GB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Chromatic Camouflage Effectiveness </a:t>
            </a: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of Green and Red Chameleon Prawns Against Natural Seaweed Substrates as Perceived by Fish Predators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43164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47105-BE2D-4B69-A517-833453C90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08" y="142387"/>
            <a:ext cx="11980984" cy="2108444"/>
          </a:xfrm>
        </p:spPr>
        <p:txBody>
          <a:bodyPr>
            <a:normAutofit/>
          </a:bodyPr>
          <a:lstStyle/>
          <a:p>
            <a:pPr algn="ctr"/>
            <a:r>
              <a:rPr kumimoji="0" lang="en-GB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Chromatic Camouflage Effectiveness </a:t>
            </a: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of Green and Red Chameleon Prawns Against Natural Seaweed Substrates as Perceived by Fish Predators</a:t>
            </a:r>
            <a:endParaRPr lang="en-GB" sz="4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3EA74C-97C6-8386-BACF-00667E017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312" y="2250831"/>
            <a:ext cx="4684622" cy="43407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80D70C-A3AC-B39F-1FA6-3F30D4D95FB6}"/>
              </a:ext>
            </a:extLst>
          </p:cNvPr>
          <p:cNvSpPr txBox="1"/>
          <p:nvPr/>
        </p:nvSpPr>
        <p:spPr>
          <a:xfrm>
            <a:off x="278296" y="2385043"/>
            <a:ext cx="6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1" dirty="0" err="1"/>
              <a:t>jnd</a:t>
            </a:r>
            <a:r>
              <a:rPr lang="en-GB" b="1" i="1" dirty="0"/>
              <a:t> ~ morph * seaweed + (1 | ID)</a:t>
            </a:r>
            <a:endParaRPr lang="en-GB" dirty="0"/>
          </a:p>
          <a:p>
            <a:endParaRPr lang="en-GB" b="1" i="1" dirty="0"/>
          </a:p>
          <a:p>
            <a:r>
              <a:rPr lang="en-GB" dirty="0"/>
              <a:t>Are the model assumptions met, and did they check them…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43E8CD-B076-711F-80AD-B0CDA075A0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7" y="3601569"/>
            <a:ext cx="4152900" cy="622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E41040-1DD3-84D4-99E8-914E443FFD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9733" y="3024023"/>
            <a:ext cx="9785201" cy="1777391"/>
          </a:xfrm>
          <a:prstGeom prst="rect">
            <a:avLst/>
          </a:prstGeom>
          <a:effectLst>
            <a:glow rad="1905000">
              <a:schemeClr val="bg1">
                <a:lumMod val="85000"/>
              </a:schemeClr>
            </a:glow>
            <a:outerShdw blurRad="50800" dist="50800" dir="5400000" sx="1000" sy="1000" algn="ctr" rotWithShape="0">
              <a:srgbClr val="000000"/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420206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019AF-14F3-8BBB-6D3F-BC3ADFB90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Soundness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Analyses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9D260-2761-E4EE-F884-D4F7769E69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Comments_on_analyses/timo.md</a:t>
            </a:r>
          </a:p>
          <a:p>
            <a:r>
              <a:rPr lang="de-CH" dirty="0"/>
              <a:t>Comments_on_analyses/mati.md</a:t>
            </a:r>
          </a:p>
          <a:p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/>
              <a:t>Comparison</a:t>
            </a:r>
            <a:endParaRPr lang="de-CH" dirty="0"/>
          </a:p>
          <a:p>
            <a:r>
              <a:rPr lang="de-CH" dirty="0" err="1"/>
              <a:t>etc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38012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7596B-4792-8F17-1652-319FEB91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Fulfillment </a:t>
            </a:r>
            <a:r>
              <a:rPr lang="de-CH" dirty="0" err="1"/>
              <a:t>of</a:t>
            </a:r>
            <a:r>
              <a:rPr lang="de-CH" dirty="0"/>
              <a:t> GRP </a:t>
            </a:r>
            <a:r>
              <a:rPr lang="de-CH" dirty="0" err="1"/>
              <a:t>principles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33FD8-6A2A-0342-4733-5268A07D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78538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Macintosh PowerPoint</Application>
  <PresentationFormat>Widescreen</PresentationFormat>
  <Paragraphs>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Colour change and behavioural choice facilitate chameleon prawn camouflage against different seaweed backgrounds</vt:lpstr>
      <vt:lpstr>Outline</vt:lpstr>
      <vt:lpstr>Introduction into study</vt:lpstr>
      <vt:lpstr>Causal Reasoning</vt:lpstr>
      <vt:lpstr>Transparency and Reproducibility</vt:lpstr>
      <vt:lpstr>PowerPoint Presentation</vt:lpstr>
      <vt:lpstr>Chromatic Camouflage Effectiveness of Green and Red Chameleon Prawns Against Natural Seaweed Substrates as Perceived by Fish Predators</vt:lpstr>
      <vt:lpstr>Chromatic Camouflage Effectiveness of Green and Red Chameleon Prawns Against Natural Seaweed Substrates as Perceived by Fish Predators</vt:lpstr>
      <vt:lpstr>Soundness of Analyses</vt:lpstr>
      <vt:lpstr>Fulfillment of GRP principles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Payer</dc:creator>
  <cp:lastModifiedBy>Mateusz Michal Starnawski</cp:lastModifiedBy>
  <cp:revision>2</cp:revision>
  <dcterms:created xsi:type="dcterms:W3CDTF">2026-04-29T14:04:58Z</dcterms:created>
  <dcterms:modified xsi:type="dcterms:W3CDTF">2026-04-30T09:26:09Z</dcterms:modified>
</cp:coreProperties>
</file>